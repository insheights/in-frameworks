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</p:sldMasterIdLst>
  <p:sldIdLst>
    <p:sldId id="280" r:id="rId3"/>
    <p:sldId id="266" r:id="rId4"/>
    <p:sldId id="263" r:id="rId5"/>
    <p:sldId id="300" r:id="rId6"/>
    <p:sldId id="267" r:id="rId7"/>
    <p:sldId id="268" r:id="rId8"/>
    <p:sldId id="259" r:id="rId9"/>
    <p:sldId id="269" r:id="rId10"/>
    <p:sldId id="258" r:id="rId11"/>
    <p:sldId id="270" r:id="rId12"/>
    <p:sldId id="301" r:id="rId13"/>
    <p:sldId id="302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9A69-93A0-1189-CC9B-659A91136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63AB4-4CEF-7525-C50F-287288862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B0E5B-0CB6-2E57-6344-30B0EAB8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94E8E-9BB1-D6EE-BCD4-ADBC94A0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4B6E-445C-D034-FB01-904B0EEF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640A-9092-4FB9-948A-DEF881EC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9A274-B94C-F171-6934-9BB4EC7B7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7D68F-5296-CBC6-AA81-E6F6CD7B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8B5A-C066-0F9E-79F9-7803C90E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A67CE-5A1E-E187-D6F5-55825D4F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2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6FB0-3D16-FDEE-E1C5-368F7BC9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7FACC-16C2-303C-980E-C9291490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B1C27-4C6F-2CCE-CE4C-FE60DBD3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3FD62-5DB1-7DBB-C442-2AFCFB3B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502F4-9518-9C98-FE3E-232F2E08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4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84B9-20F1-6B9C-FB10-6262AA11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5ECF-D954-BDEF-45E8-7CFD18479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3A183-F9A4-B7AF-74B3-057AAEED7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5CE50-97B8-3C5E-275E-DD4BB417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CCA5-B40F-2DCB-4057-20FA4666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88040-EDE1-71A7-40BA-58888934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0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5382-9B5D-D393-50DD-65858CC2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5B91A-B751-05C2-D808-E29B20B37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B6C65-648A-B440-2ED9-05AE1BAB7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FBD4E-705A-54F5-9728-C2E791F8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D2413-9796-20AB-2A54-6690C7498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44A78-6825-FD27-AA8C-3A01714E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F27F4-2BC7-0245-DFD3-F412CD89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14F60-5C7B-83FD-2EE3-7F4639D68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4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10F3-6293-9CC4-7B89-BF095421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E1CC8A-8B21-E144-A8EC-5AFD663E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C5F56-0999-1E68-BCD4-80EEB73B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99C83-6AB9-CF13-5534-CA0C4A00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7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6C7E6-72E5-EA78-1B8F-C3E3AD41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D71DB-A588-9ABA-9EBC-8FBB8F50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4AEA6-1A6A-9270-B669-B4FFFF67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83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4D247-7C0D-602F-6A90-34764AC2B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5A67-CEC7-3F54-F1FF-70414363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0F645-781E-BE50-18B2-24DB64CB0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CA3CB-AB62-4C06-5C1E-D2B7288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D695E-4DA3-2646-38BA-9A86AD5E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780E2-388C-55E1-CD47-AC6CF37B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7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6E76-4495-2E47-BE24-C77FAB16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07A71-1BF5-A174-B842-6B9D5EF25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CE0B3-C715-4454-7A42-C0CD67865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2BD10-C392-996F-247D-F306D4B4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BC8F1-DEF7-9752-6666-B062C07D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76A-EF98-5452-A538-C98AF3B7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8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6784-058C-5CEA-1D0A-15372FAE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2FFB6-6A57-DCC9-C0E2-9435970B2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93702-9CFC-8357-CC2C-F7B1AC90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8C9ED-45BE-14AB-24CD-BFB6D6EF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CC20C-FBF2-35BC-3C9D-403AA18C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2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050CE-68F7-B368-2C55-DB117DC66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289AB-BD3E-AB75-1209-1C4F50608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413FF-7D56-4E1F-74E6-C840986D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1117A-9E1E-C859-A75E-16A02E89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5E346-D1CB-FC0B-1724-445DE350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94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F40AF0-97BE-F96A-2DC8-134B786B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D680E-A322-84BA-0DE6-6118DAE00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63BAA-0172-DEF7-C19C-962A1C7C3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C9599-C581-46AA-9567-7D0A9D198E55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0E648-7223-968C-314A-BFE304A49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FAE93-CA4D-A77B-D9B0-080C14C98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063EA-55A6-48B9-9CF5-AFE13F27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1F2A66"/>
          </a:solidFill>
          <a:latin typeface="Calibri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15203A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5A6478"/>
          </a:solidFill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sheights/in-framework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6396-8A07-DEEC-8080-0BEC43B02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897" y="2067243"/>
            <a:ext cx="10617199" cy="1336357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Insheights </a:t>
            </a:r>
            <a:br>
              <a:rPr lang="en-US" dirty="0"/>
            </a:br>
            <a:r>
              <a:rPr lang="en-US" dirty="0">
                <a:solidFill>
                  <a:srgbClr val="4FB8D4"/>
                </a:solidFill>
              </a:rPr>
              <a:t>Integrated Value Creation System (IIVCS)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A408B-E9AB-E038-7679-5C0B3F0BE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434543"/>
            <a:ext cx="10617200" cy="369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D8ECF2"/>
                </a:solidFill>
              </a:rPr>
              <a:t>How organizations define, build, and deliver value – from strategic intent to realized customer outcome</a:t>
            </a:r>
            <a:endParaRPr lang="en-US" sz="15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D08715-91ED-F94E-4495-40AD4AB04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F3983-77FF-FEBE-0DE0-D3EACED5A8DC}"/>
              </a:ext>
            </a:extLst>
          </p:cNvPr>
          <p:cNvSpPr txBox="1"/>
          <p:nvPr/>
        </p:nvSpPr>
        <p:spPr>
          <a:xfrm>
            <a:off x="609600" y="3959275"/>
            <a:ext cx="10454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7FCFE2"/>
                </a:solidFill>
              </a:rPr>
              <a:t>Organization Strategy Model (OSM) | Product Transformation System (PTS) | Customer Value Delivery Model (CVDM)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E4BDE-AAB5-8FFE-112C-882993AEA46F}"/>
              </a:ext>
            </a:extLst>
          </p:cNvPr>
          <p:cNvSpPr txBox="1"/>
          <p:nvPr/>
        </p:nvSpPr>
        <p:spPr>
          <a:xfrm>
            <a:off x="609600" y="530910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400" dirty="0">
                <a:solidFill>
                  <a:srgbClr val="7A8699"/>
                </a:solidFill>
              </a:rPr>
              <a:t>© 2026 Insheights LLC. All rights reserved. </a:t>
            </a:r>
            <a:r>
              <a:rPr lang="en-US" sz="1400" dirty="0">
                <a:solidFill>
                  <a:srgbClr val="7A8699"/>
                </a:solidFill>
              </a:rPr>
              <a:t>Proprietary.</a:t>
            </a:r>
          </a:p>
        </p:txBody>
      </p:sp>
    </p:spTree>
    <p:extLst>
      <p:ext uri="{BB962C8B-B14F-4D97-AF65-F5344CB8AC3E}">
        <p14:creationId xmlns:p14="http://schemas.microsoft.com/office/powerpoint/2010/main" val="322697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26A8F-4BFB-46A4-BD97-4E3EC20425B8}"/>
              </a:ext>
            </a:extLst>
          </p:cNvPr>
          <p:cNvSpPr txBox="1"/>
          <p:nvPr/>
        </p:nvSpPr>
        <p:spPr>
          <a:xfrm>
            <a:off x="901700" y="502920"/>
            <a:ext cx="9144000" cy="31115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9F19C-829D-491D-91AD-4080BDF9C5C5}"/>
              </a:ext>
            </a:extLst>
          </p:cNvPr>
          <p:cNvSpPr txBox="1"/>
          <p:nvPr/>
        </p:nvSpPr>
        <p:spPr>
          <a:xfrm>
            <a:off x="685800" y="896619"/>
            <a:ext cx="10807700" cy="863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latin typeface="Calibri"/>
                <a:ea typeface="Calibri"/>
                <a:cs typeface="Calibri"/>
              </a:rPr>
              <a:t>Organizations don’t lack frameworks — they lack coherence.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42D5E-3AA5-47D2-9B71-6DCA40A8005E}"/>
              </a:ext>
            </a:extLst>
          </p:cNvPr>
          <p:cNvSpPr txBox="1"/>
          <p:nvPr/>
        </p:nvSpPr>
        <p:spPr>
          <a:xfrm>
            <a:off x="685800" y="187452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 dirty="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The gap isn’t more practice — it’s a system that makes existing practices work as one.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2285A3-0961-458A-943D-B9A25F0E1CDE}"/>
              </a:ext>
            </a:extLst>
          </p:cNvPr>
          <p:cNvSpPr/>
          <p:nvPr/>
        </p:nvSpPr>
        <p:spPr>
          <a:xfrm>
            <a:off x="685800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277AB0-0AC7-4279-AF1F-C53282964134}"/>
              </a:ext>
            </a:extLst>
          </p:cNvPr>
          <p:cNvSpPr/>
          <p:nvPr/>
        </p:nvSpPr>
        <p:spPr>
          <a:xfrm>
            <a:off x="960119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9076-A0E3-43F8-AB14-E25CA2976391}"/>
              </a:ext>
            </a:extLst>
          </p:cNvPr>
          <p:cNvSpPr txBox="1"/>
          <p:nvPr/>
        </p:nvSpPr>
        <p:spPr>
          <a:xfrm>
            <a:off x="960119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Siloed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EB011-BD0C-4866-A7E3-D19FD16B6E6C}"/>
              </a:ext>
            </a:extLst>
          </p:cNvPr>
          <p:cNvSpPr txBox="1"/>
          <p:nvPr/>
        </p:nvSpPr>
        <p:spPr>
          <a:xfrm>
            <a:off x="960119" y="4241800"/>
            <a:ext cx="283464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Strategy lives in one system, product in another, delivery in a third.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FE93A7-D298-4761-86C8-2BA923BEA127}"/>
              </a:ext>
            </a:extLst>
          </p:cNvPr>
          <p:cNvSpPr/>
          <p:nvPr/>
        </p:nvSpPr>
        <p:spPr>
          <a:xfrm>
            <a:off x="4297680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B8BC34-5545-4CFE-8049-70D2368149CC}"/>
              </a:ext>
            </a:extLst>
          </p:cNvPr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5641D-1B40-40C0-94E3-B203562CFC07}"/>
              </a:ext>
            </a:extLst>
          </p:cNvPr>
          <p:cNvSpPr txBox="1"/>
          <p:nvPr/>
        </p:nvSpPr>
        <p:spPr>
          <a:xfrm>
            <a:off x="4572000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Disconnected 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6BD51-C407-4CA7-8E21-88398B0FC9AB}"/>
              </a:ext>
            </a:extLst>
          </p:cNvPr>
          <p:cNvSpPr txBox="1"/>
          <p:nvPr/>
        </p:nvSpPr>
        <p:spPr>
          <a:xfrm>
            <a:off x="4572000" y="4241800"/>
            <a:ext cx="283464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Customer journey, value-stream delivery, outcome measurement, and upstream feedback are rarely connected.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159D4A-D1A9-4BC6-BF69-0DD9F0493256}"/>
              </a:ext>
            </a:extLst>
          </p:cNvPr>
          <p:cNvSpPr/>
          <p:nvPr/>
        </p:nvSpPr>
        <p:spPr>
          <a:xfrm>
            <a:off x="7909559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F194B9-BCEC-48FC-B54C-192EEAEC032F}"/>
              </a:ext>
            </a:extLst>
          </p:cNvPr>
          <p:cNvSpPr/>
          <p:nvPr/>
        </p:nvSpPr>
        <p:spPr>
          <a:xfrm>
            <a:off x="8183880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5CB7D-8BFA-4E4A-A917-193EAB293522}"/>
              </a:ext>
            </a:extLst>
          </p:cNvPr>
          <p:cNvSpPr txBox="1"/>
          <p:nvPr/>
        </p:nvSpPr>
        <p:spPr>
          <a:xfrm>
            <a:off x="8183880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Framework sprawl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707FF-E84D-4A65-BF09-55FD894F2742}"/>
              </a:ext>
            </a:extLst>
          </p:cNvPr>
          <p:cNvSpPr txBox="1"/>
          <p:nvPr/>
        </p:nvSpPr>
        <p:spPr>
          <a:xfrm>
            <a:off x="8183880" y="4241800"/>
            <a:ext cx="283464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New frameworks pile on top of existing ones — multiplying overhead instead of clarity.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1CD1B8-3FA7-4D1A-96A0-AC6BA87AA32C}"/>
              </a:ext>
            </a:extLst>
          </p:cNvPr>
          <p:cNvSpPr txBox="1"/>
          <p:nvPr/>
        </p:nvSpPr>
        <p:spPr>
          <a:xfrm>
            <a:off x="6832600" y="6477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/>
            <a:r>
              <a:rPr lang="en-US" sz="1000" dirty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B4DC7A-7A71-4D22-9EB5-DDDFDCC39E4B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0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A393B1-3811-95DF-3A80-CEDACBF16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816" y="1617388"/>
            <a:ext cx="5700184" cy="524061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E4691D0-62B7-4804-9CCA-3259B78134E7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13F5A-3D33-4C59-B144-E7F8E5537E7C}"/>
              </a:ext>
            </a:extLst>
          </p:cNvPr>
          <p:cNvSpPr txBox="1"/>
          <p:nvPr/>
        </p:nvSpPr>
        <p:spPr>
          <a:xfrm>
            <a:off x="901700" y="50292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BE321-CE0E-4CB6-B620-3AF910C82DB0}"/>
              </a:ext>
            </a:extLst>
          </p:cNvPr>
          <p:cNvSpPr txBox="1"/>
          <p:nvPr/>
        </p:nvSpPr>
        <p:spPr>
          <a:xfrm>
            <a:off x="685800" y="896619"/>
            <a:ext cx="56515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 integrated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B5DAC-9122-427A-841B-1A4069C3E13F}"/>
              </a:ext>
            </a:extLst>
          </p:cNvPr>
          <p:cNvSpPr txBox="1"/>
          <p:nvPr/>
        </p:nvSpPr>
        <p:spPr>
          <a:xfrm>
            <a:off x="685800" y="1625600"/>
            <a:ext cx="5651500" cy="698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IIVCS integrates existing practices into a coherent system rather than replacing them.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F77C5-0AA1-48B8-A40B-459DA0FC766D}"/>
              </a:ext>
            </a:extLst>
          </p:cNvPr>
          <p:cNvSpPr/>
          <p:nvPr/>
        </p:nvSpPr>
        <p:spPr>
          <a:xfrm>
            <a:off x="685800" y="2603500"/>
            <a:ext cx="50800" cy="9144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1A25E-92E4-41E4-9FED-BAAA2C1428FB}"/>
              </a:ext>
            </a:extLst>
          </p:cNvPr>
          <p:cNvSpPr txBox="1"/>
          <p:nvPr/>
        </p:nvSpPr>
        <p:spPr>
          <a:xfrm>
            <a:off x="889000" y="2603500"/>
            <a:ext cx="53975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Integrated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3EB529-FAE1-485E-89B4-B7AB8B8C034B}"/>
              </a:ext>
            </a:extLst>
          </p:cNvPr>
          <p:cNvSpPr txBox="1"/>
          <p:nvPr/>
        </p:nvSpPr>
        <p:spPr>
          <a:xfrm>
            <a:off x="889000" y="2946400"/>
            <a:ext cx="53975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Purposefully unified across strategy, operating model, and value delivery.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E487B9-BD6B-4CF8-AD5D-F49C3C6BF80B}"/>
              </a:ext>
            </a:extLst>
          </p:cNvPr>
          <p:cNvSpPr/>
          <p:nvPr/>
        </p:nvSpPr>
        <p:spPr>
          <a:xfrm>
            <a:off x="685800" y="3810000"/>
            <a:ext cx="50800" cy="9144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DA636C-B189-4167-8184-12C887F5AB99}"/>
              </a:ext>
            </a:extLst>
          </p:cNvPr>
          <p:cNvSpPr txBox="1"/>
          <p:nvPr/>
        </p:nvSpPr>
        <p:spPr>
          <a:xfrm>
            <a:off x="889000" y="3810000"/>
            <a:ext cx="53975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Value Creation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727C8-F202-48D4-B895-3B754E1D1B09}"/>
              </a:ext>
            </a:extLst>
          </p:cNvPr>
          <p:cNvSpPr txBox="1"/>
          <p:nvPr/>
        </p:nvSpPr>
        <p:spPr>
          <a:xfrm>
            <a:off x="889000" y="4152900"/>
            <a:ext cx="53975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4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The single purpose the whole system serves.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1C9519-DDEE-45D8-84C8-5DFCEDB7DD0D}"/>
              </a:ext>
            </a:extLst>
          </p:cNvPr>
          <p:cNvSpPr/>
          <p:nvPr/>
        </p:nvSpPr>
        <p:spPr>
          <a:xfrm>
            <a:off x="685800" y="5016500"/>
            <a:ext cx="50800" cy="9144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6DE44-82A2-4FC4-AA2E-2AAFCFF86536}"/>
              </a:ext>
            </a:extLst>
          </p:cNvPr>
          <p:cNvSpPr txBox="1"/>
          <p:nvPr/>
        </p:nvSpPr>
        <p:spPr>
          <a:xfrm>
            <a:off x="889000" y="5016500"/>
            <a:ext cx="53975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1AC413-C507-4647-A5E8-0496C2FB0DD9}"/>
              </a:ext>
            </a:extLst>
          </p:cNvPr>
          <p:cNvSpPr txBox="1"/>
          <p:nvPr/>
        </p:nvSpPr>
        <p:spPr>
          <a:xfrm>
            <a:off x="889000" y="5359400"/>
            <a:ext cx="53975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4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Interdependent parts that work as 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9652F0-F3FA-4ADA-89BD-1B6C3F5E12BD}"/>
              </a:ext>
            </a:extLst>
          </p:cNvPr>
          <p:cNvSpPr txBox="1"/>
          <p:nvPr/>
        </p:nvSpPr>
        <p:spPr>
          <a:xfrm>
            <a:off x="685800" y="6540500"/>
            <a:ext cx="5588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151820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26A8F-4BFB-46A4-BD97-4E3EC20425B8}"/>
              </a:ext>
            </a:extLst>
          </p:cNvPr>
          <p:cNvSpPr txBox="1"/>
          <p:nvPr/>
        </p:nvSpPr>
        <p:spPr>
          <a:xfrm>
            <a:off x="901700" y="502920"/>
            <a:ext cx="9144000" cy="31115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PROPOSITION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9F19C-829D-491D-91AD-4080BDF9C5C5}"/>
              </a:ext>
            </a:extLst>
          </p:cNvPr>
          <p:cNvSpPr txBox="1"/>
          <p:nvPr/>
        </p:nvSpPr>
        <p:spPr>
          <a:xfrm>
            <a:off x="685800" y="896619"/>
            <a:ext cx="10807700" cy="863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latin typeface="Calibri"/>
                <a:ea typeface="Calibri"/>
                <a:cs typeface="Calibri"/>
              </a:rPr>
              <a:t>One system to define, build, and deliver value.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42D5E-3AA5-47D2-9B71-6DCA40A8005E}"/>
              </a:ext>
            </a:extLst>
          </p:cNvPr>
          <p:cNvSpPr txBox="1"/>
          <p:nvPr/>
        </p:nvSpPr>
        <p:spPr>
          <a:xfrm>
            <a:off x="685800" y="1874520"/>
            <a:ext cx="105156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 dirty="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From strategic intent to realized customer outcome — by integrating existing practices rather than replacing them.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2285A3-0961-458A-943D-B9A25F0E1CDE}"/>
              </a:ext>
            </a:extLst>
          </p:cNvPr>
          <p:cNvSpPr/>
          <p:nvPr/>
        </p:nvSpPr>
        <p:spPr>
          <a:xfrm>
            <a:off x="685800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277AB0-0AC7-4279-AF1F-C53282964134}"/>
              </a:ext>
            </a:extLst>
          </p:cNvPr>
          <p:cNvSpPr/>
          <p:nvPr/>
        </p:nvSpPr>
        <p:spPr>
          <a:xfrm>
            <a:off x="960119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9076-A0E3-43F8-AB14-E25CA2976391}"/>
              </a:ext>
            </a:extLst>
          </p:cNvPr>
          <p:cNvSpPr txBox="1"/>
          <p:nvPr/>
        </p:nvSpPr>
        <p:spPr>
          <a:xfrm>
            <a:off x="960119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Integrate, don’t replace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EB011-BD0C-4866-A7E3-D19FD16B6E6C}"/>
              </a:ext>
            </a:extLst>
          </p:cNvPr>
          <p:cNvSpPr txBox="1"/>
          <p:nvPr/>
        </p:nvSpPr>
        <p:spPr>
          <a:xfrm>
            <a:off x="960119" y="4241800"/>
            <a:ext cx="283464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SAFe, Scrum, OKRs, ITIL, ERM, Design Thinking, VSM, and JTBD get a coherent home — not another framework on the pile.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FE93A7-D298-4761-86C8-2BA923BEA127}"/>
              </a:ext>
            </a:extLst>
          </p:cNvPr>
          <p:cNvSpPr/>
          <p:nvPr/>
        </p:nvSpPr>
        <p:spPr>
          <a:xfrm>
            <a:off x="4297680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B8BC34-5545-4CFE-8049-70D2368149CC}"/>
              </a:ext>
            </a:extLst>
          </p:cNvPr>
          <p:cNvSpPr/>
          <p:nvPr/>
        </p:nvSpPr>
        <p:spPr>
          <a:xfrm>
            <a:off x="4572000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5641D-1B40-40C0-94E3-B203562CFC07}"/>
              </a:ext>
            </a:extLst>
          </p:cNvPr>
          <p:cNvSpPr txBox="1"/>
          <p:nvPr/>
        </p:nvSpPr>
        <p:spPr>
          <a:xfrm>
            <a:off x="4572000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Cover what others split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6BD51-C407-4CA7-8E21-88398B0FC9AB}"/>
              </a:ext>
            </a:extLst>
          </p:cNvPr>
          <p:cNvSpPr txBox="1"/>
          <p:nvPr/>
        </p:nvSpPr>
        <p:spPr>
          <a:xfrm>
            <a:off x="4572000" y="4241800"/>
            <a:ext cx="283464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Journey, value-stream delivery, outcome measurement, and upstream feedback — connected at once, not in silos.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159D4A-D1A9-4BC6-BF69-0DD9F0493256}"/>
              </a:ext>
            </a:extLst>
          </p:cNvPr>
          <p:cNvSpPr/>
          <p:nvPr/>
        </p:nvSpPr>
        <p:spPr>
          <a:xfrm>
            <a:off x="7909559" y="3063240"/>
            <a:ext cx="3383279" cy="219456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F194B9-BCEC-48FC-B54C-192EEAEC032F}"/>
              </a:ext>
            </a:extLst>
          </p:cNvPr>
          <p:cNvSpPr/>
          <p:nvPr/>
        </p:nvSpPr>
        <p:spPr>
          <a:xfrm>
            <a:off x="8183880" y="3337560"/>
            <a:ext cx="365760" cy="36576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5CB7D-8BFA-4E4A-A917-193EAB293522}"/>
              </a:ext>
            </a:extLst>
          </p:cNvPr>
          <p:cNvSpPr txBox="1"/>
          <p:nvPr/>
        </p:nvSpPr>
        <p:spPr>
          <a:xfrm>
            <a:off x="8183880" y="3840479"/>
            <a:ext cx="283464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600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Prove the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9707FF-E84D-4A65-BF09-55FD894F2742}"/>
              </a:ext>
            </a:extLst>
          </p:cNvPr>
          <p:cNvSpPr txBox="1"/>
          <p:nvPr/>
        </p:nvSpPr>
        <p:spPr>
          <a:xfrm>
            <a:off x="8183879" y="4241800"/>
            <a:ext cx="3017521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350" dirty="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3E, AER, and the 8 Values make value visible, measurable, and continuously improvable – with AER measuring two tracks: the organization and the customer.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1CD1B8-3FA7-4D1A-96A0-AC6BA87AA32C}"/>
              </a:ext>
            </a:extLst>
          </p:cNvPr>
          <p:cNvSpPr txBox="1"/>
          <p:nvPr/>
        </p:nvSpPr>
        <p:spPr>
          <a:xfrm>
            <a:off x="6832600" y="6477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/>
            <a:r>
              <a:rPr lang="en-US" sz="1000" dirty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B4DC7A-7A71-4D22-9EB5-DDDFDCC39E4B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11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06D7CE-FB92-B9A5-3CE4-3E6639F20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587513"/>
              </p:ext>
            </p:extLst>
          </p:nvPr>
        </p:nvGraphicFramePr>
        <p:xfrm>
          <a:off x="685800" y="2540000"/>
          <a:ext cx="108204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41682591"/>
                    </a:ext>
                  </a:extLst>
                </a:gridCol>
                <a:gridCol w="7391400">
                  <a:extLst>
                    <a:ext uri="{9D8B030D-6E8A-4147-A177-3AD203B41FA5}">
                      <a16:colId xmlns:a16="http://schemas.microsoft.com/office/drawing/2014/main" val="184398235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Principle</a:t>
                      </a:r>
                    </a:p>
                  </a:txBody>
                  <a:tcPr anchor="ctr">
                    <a:solidFill>
                      <a:srgbClr val="1F2A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1F2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3806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Customer Obsession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Every decision starts with the customer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49688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Outcome over output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Measured by value delivered, not features shipped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2652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Continuous discovery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Stay in constant contact with reality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266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Hypothesis-driven thinking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Every initiative is a testable assumption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86433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Cross-functional ownership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Teams own the full value chain end-to-end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830910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683C695A-9590-47F0-8472-178199D76400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A848C-A0E2-4E4D-A401-D508A68B2B5B}"/>
              </a:ext>
            </a:extLst>
          </p:cNvPr>
          <p:cNvSpPr txBox="1"/>
          <p:nvPr/>
        </p:nvSpPr>
        <p:spPr>
          <a:xfrm>
            <a:off x="901700" y="502920"/>
            <a:ext cx="9144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MINDSET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4C3E76-26F4-4B34-8D0E-0ED42D65AF09}"/>
              </a:ext>
            </a:extLst>
          </p:cNvPr>
          <p:cNvSpPr txBox="1"/>
          <p:nvPr/>
        </p:nvSpPr>
        <p:spPr>
          <a:xfrm>
            <a:off x="685800" y="896619"/>
            <a:ext cx="108077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operating philosophy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DC7D7-DCAB-4135-8000-0FD7524CE3FA}"/>
              </a:ext>
            </a:extLst>
          </p:cNvPr>
          <p:cNvSpPr txBox="1"/>
          <p:nvPr/>
        </p:nvSpPr>
        <p:spPr>
          <a:xfrm>
            <a:off x="685800" y="1625600"/>
            <a:ext cx="108077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 dirty="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The IIVCS runs on Product Mindset philosophy that shapes how strategy is formed, how teams are built, and how value is delivered.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C7B5A-4A3B-4073-A763-A217D9E59D57}"/>
              </a:ext>
            </a:extLst>
          </p:cNvPr>
          <p:cNvSpPr txBox="1"/>
          <p:nvPr/>
        </p:nvSpPr>
        <p:spPr>
          <a:xfrm>
            <a:off x="6832600" y="6477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/>
            <a:r>
              <a:rPr lang="en-US" sz="1000" dirty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200574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3E4CD6-F738-2022-68B7-984CA2CDD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974561"/>
              </p:ext>
            </p:extLst>
          </p:nvPr>
        </p:nvGraphicFramePr>
        <p:xfrm>
          <a:off x="685800" y="2603500"/>
          <a:ext cx="1082040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983823315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1035813521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04859546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Framework</a:t>
                      </a:r>
                    </a:p>
                  </a:txBody>
                  <a:tcPr anchor="ctr">
                    <a:solidFill>
                      <a:srgbClr val="1F2A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1F2A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One word</a:t>
                      </a:r>
                    </a:p>
                  </a:txBody>
                  <a:tcPr anchor="ctr">
                    <a:solidFill>
                      <a:srgbClr val="1F2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9295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OSM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Organization Strategy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2A66"/>
                          </a:solidFill>
                          <a:latin typeface="Calibri"/>
                          <a:ea typeface="Calibri"/>
                          <a:cs typeface="Calibri"/>
                        </a:rPr>
                        <a:t>Governs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4605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PTS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Product Transformation System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2A66"/>
                          </a:solidFill>
                          <a:latin typeface="Calibri"/>
                          <a:ea typeface="Calibri"/>
                          <a:cs typeface="Calibri"/>
                        </a:rPr>
                        <a:t>Operationalizes</a:t>
                      </a:r>
                    </a:p>
                  </a:txBody>
                  <a:tcPr anchor="ctr">
                    <a:solidFill>
                      <a:srgbClr val="F2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72406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5203A"/>
                          </a:solidFill>
                          <a:latin typeface="Calibri"/>
                          <a:ea typeface="Calibri"/>
                          <a:cs typeface="Calibri"/>
                        </a:rPr>
                        <a:t>CVDM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5A6478"/>
                          </a:solidFill>
                          <a:latin typeface="Calibri"/>
                          <a:ea typeface="Calibri"/>
                          <a:cs typeface="Calibri"/>
                        </a:rPr>
                        <a:t>Customer Value Delivery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F2A66"/>
                          </a:solidFill>
                          <a:latin typeface="Calibri"/>
                          <a:ea typeface="Calibri"/>
                          <a:cs typeface="Calibri"/>
                        </a:rPr>
                        <a:t>Realizes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43565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1199ADB3-FEAD-4C68-B217-48D2FD919C43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2A552E-98FF-4F2F-8834-5422AE9CDA8A}"/>
              </a:ext>
            </a:extLst>
          </p:cNvPr>
          <p:cNvSpPr txBox="1"/>
          <p:nvPr/>
        </p:nvSpPr>
        <p:spPr>
          <a:xfrm>
            <a:off x="901700" y="502920"/>
            <a:ext cx="9144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2F08D4-BD83-4727-9B8A-6B8D2F56BC13}"/>
              </a:ext>
            </a:extLst>
          </p:cNvPr>
          <p:cNvSpPr txBox="1"/>
          <p:nvPr/>
        </p:nvSpPr>
        <p:spPr>
          <a:xfrm>
            <a:off x="685800" y="896619"/>
            <a:ext cx="108077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Three frameworks, one spine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9142C-AB06-4C9D-A7E6-E2D5D9A6E3A7}"/>
              </a:ext>
            </a:extLst>
          </p:cNvPr>
          <p:cNvSpPr txBox="1"/>
          <p:nvPr/>
        </p:nvSpPr>
        <p:spPr>
          <a:xfrm>
            <a:off x="685800" y="1625600"/>
            <a:ext cx="108077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Value Streams — the pre-existing workflows and capabilities through which value is created — are the common spine of the system.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005208-54B1-419C-96CB-0146832F9DBF}"/>
              </a:ext>
            </a:extLst>
          </p:cNvPr>
          <p:cNvSpPr/>
          <p:nvPr/>
        </p:nvSpPr>
        <p:spPr>
          <a:xfrm>
            <a:off x="685800" y="5105400"/>
            <a:ext cx="10820400" cy="68580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228600" tIns="0" rIns="0" bIns="0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OSM governs the value streams, PTS operationalizes them, and CVDM realizes value through them.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DB9CA-5235-47E5-BC17-1556B43073F1}"/>
              </a:ext>
            </a:extLst>
          </p:cNvPr>
          <p:cNvSpPr txBox="1"/>
          <p:nvPr/>
        </p:nvSpPr>
        <p:spPr>
          <a:xfrm>
            <a:off x="6832600" y="6477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/>
            <a:r>
              <a:rPr lang="en-US" sz="1000" dirty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242678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025F9-34DB-7011-9A2C-39332D140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72" y="1617387"/>
            <a:ext cx="6172028" cy="524061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D2EAC9C-9EF1-490E-8BC6-E48FDC0C6B2A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62AA9-C8AA-4AD3-90E9-DEFDE1758C24}"/>
              </a:ext>
            </a:extLst>
          </p:cNvPr>
          <p:cNvSpPr txBox="1"/>
          <p:nvPr/>
        </p:nvSpPr>
        <p:spPr>
          <a:xfrm>
            <a:off x="901700" y="502920"/>
            <a:ext cx="4953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331C8-2783-4230-A224-6FE1E5D48448}"/>
              </a:ext>
            </a:extLst>
          </p:cNvPr>
          <p:cNvSpPr txBox="1"/>
          <p:nvPr/>
        </p:nvSpPr>
        <p:spPr>
          <a:xfrm>
            <a:off x="685800" y="896619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Organization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FAF14-A0E1-40B8-B78F-E41F90795B70}"/>
              </a:ext>
            </a:extLst>
          </p:cNvPr>
          <p:cNvSpPr txBox="1"/>
          <p:nvPr/>
        </p:nvSpPr>
        <p:spPr>
          <a:xfrm>
            <a:off x="685800" y="2184400"/>
            <a:ext cx="4953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How organizations translate strategic intent into prioritized value-creation outcomes.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DEB93-C4B6-41FC-BDBF-5222CFC6FD0A}"/>
              </a:ext>
            </a:extLst>
          </p:cNvPr>
          <p:cNvSpPr/>
          <p:nvPr/>
        </p:nvSpPr>
        <p:spPr>
          <a:xfrm>
            <a:off x="685800" y="34290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EACB6-AF1A-4AAB-9AD3-6AF12D8BC26F}"/>
              </a:ext>
            </a:extLst>
          </p:cNvPr>
          <p:cNvSpPr txBox="1"/>
          <p:nvPr/>
        </p:nvSpPr>
        <p:spPr>
          <a:xfrm>
            <a:off x="889000" y="34290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Strategic Value Creation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D16264-D6C7-4E8B-91D0-B5BF4C87FE54}"/>
              </a:ext>
            </a:extLst>
          </p:cNvPr>
          <p:cNvSpPr/>
          <p:nvPr/>
        </p:nvSpPr>
        <p:spPr>
          <a:xfrm>
            <a:off x="685800" y="43434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C2DC7-DD8D-413B-9716-9A01F1A93737}"/>
              </a:ext>
            </a:extLst>
          </p:cNvPr>
          <p:cNvSpPr txBox="1"/>
          <p:nvPr/>
        </p:nvSpPr>
        <p:spPr>
          <a:xfrm>
            <a:off x="889000" y="43434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Value Priorities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F0E35-363D-4BC8-A6AF-634D7B6B9B15}"/>
              </a:ext>
            </a:extLst>
          </p:cNvPr>
          <p:cNvSpPr/>
          <p:nvPr/>
        </p:nvSpPr>
        <p:spPr>
          <a:xfrm>
            <a:off x="685800" y="52578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AD5D9-1944-4A6E-B972-E4575EA138AB}"/>
              </a:ext>
            </a:extLst>
          </p:cNvPr>
          <p:cNvSpPr txBox="1"/>
          <p:nvPr/>
        </p:nvSpPr>
        <p:spPr>
          <a:xfrm>
            <a:off x="889000" y="52578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Value Streams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61E77-FC9D-4EEC-AF89-022DB0785D06}"/>
              </a:ext>
            </a:extLst>
          </p:cNvPr>
          <p:cNvSpPr txBox="1"/>
          <p:nvPr/>
        </p:nvSpPr>
        <p:spPr>
          <a:xfrm>
            <a:off x="685800" y="6540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408052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480E87-3053-C9E0-6707-020CBD47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61D39-146A-DAC9-ECCA-ABD777949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686" y="1617387"/>
            <a:ext cx="5153604" cy="524061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B4F3FDF-0F2E-4E7C-BF66-B520DEF7D0FA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D1E0F-DC0E-44A3-9228-8CF9520E12E7}"/>
              </a:ext>
            </a:extLst>
          </p:cNvPr>
          <p:cNvSpPr txBox="1"/>
          <p:nvPr/>
        </p:nvSpPr>
        <p:spPr>
          <a:xfrm>
            <a:off x="901700" y="502920"/>
            <a:ext cx="4953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CB9F5-6F49-4031-B9F6-EADF4A3B09BA}"/>
              </a:ext>
            </a:extLst>
          </p:cNvPr>
          <p:cNvSpPr txBox="1"/>
          <p:nvPr/>
        </p:nvSpPr>
        <p:spPr>
          <a:xfrm>
            <a:off x="685800" y="896619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Turns strategy into capability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FEAE9-21B1-4315-8EF2-4134FB9FF781}"/>
              </a:ext>
            </a:extLst>
          </p:cNvPr>
          <p:cNvSpPr txBox="1"/>
          <p:nvPr/>
        </p:nvSpPr>
        <p:spPr>
          <a:xfrm>
            <a:off x="685800" y="2184400"/>
            <a:ext cx="4953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OSM’s strategic intent, value priorities, and value streams are: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D8E3D-ECFE-4670-AC63-631C56A7E62E}"/>
              </a:ext>
            </a:extLst>
          </p:cNvPr>
          <p:cNvSpPr/>
          <p:nvPr/>
        </p:nvSpPr>
        <p:spPr>
          <a:xfrm>
            <a:off x="685800" y="34290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AE70B-08D9-4294-9607-BA100B677D2B}"/>
              </a:ext>
            </a:extLst>
          </p:cNvPr>
          <p:cNvSpPr txBox="1"/>
          <p:nvPr/>
        </p:nvSpPr>
        <p:spPr>
          <a:xfrm>
            <a:off x="889000" y="34290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Structured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0123C-2D85-4DA9-84C2-27515249BF1E}"/>
              </a:ext>
            </a:extLst>
          </p:cNvPr>
          <p:cNvSpPr/>
          <p:nvPr/>
        </p:nvSpPr>
        <p:spPr>
          <a:xfrm>
            <a:off x="685800" y="43434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DD978-C775-480F-9D24-D5253C6BBA6A}"/>
              </a:ext>
            </a:extLst>
          </p:cNvPr>
          <p:cNvSpPr txBox="1"/>
          <p:nvPr/>
        </p:nvSpPr>
        <p:spPr>
          <a:xfrm>
            <a:off x="889000" y="43434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Empowered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D7434F-2C38-48F6-BE8D-C3B26105BB1F}"/>
              </a:ext>
            </a:extLst>
          </p:cNvPr>
          <p:cNvSpPr/>
          <p:nvPr/>
        </p:nvSpPr>
        <p:spPr>
          <a:xfrm>
            <a:off x="685800" y="52578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E49B8F-58D4-4CED-96C7-430C24AC3B93}"/>
              </a:ext>
            </a:extLst>
          </p:cNvPr>
          <p:cNvSpPr txBox="1"/>
          <p:nvPr/>
        </p:nvSpPr>
        <p:spPr>
          <a:xfrm>
            <a:off x="889000" y="52578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Executed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793B2-D154-4D7E-885D-6C66D17A0052}"/>
              </a:ext>
            </a:extLst>
          </p:cNvPr>
          <p:cNvSpPr txBox="1"/>
          <p:nvPr/>
        </p:nvSpPr>
        <p:spPr>
          <a:xfrm>
            <a:off x="685800" y="6540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308328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59520D-69DA-2830-42CA-C77AE6CF1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400" y="1617388"/>
            <a:ext cx="6363600" cy="524061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A630F2E-4FFD-4D0D-91BF-40283018EF24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33EDC-30AD-4277-B60B-04144E5E4A2A}"/>
              </a:ext>
            </a:extLst>
          </p:cNvPr>
          <p:cNvSpPr txBox="1"/>
          <p:nvPr/>
        </p:nvSpPr>
        <p:spPr>
          <a:xfrm>
            <a:off x="901700" y="502920"/>
            <a:ext cx="4889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E1C96-F593-4F1D-8C80-1002971FC6AF}"/>
              </a:ext>
            </a:extLst>
          </p:cNvPr>
          <p:cNvSpPr txBox="1"/>
          <p:nvPr/>
        </p:nvSpPr>
        <p:spPr>
          <a:xfrm>
            <a:off x="685800" y="896619"/>
            <a:ext cx="4889500" cy="1206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Anchored on the customer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40FB3-F04A-4A97-A3DF-CCBDE06CFC2F}"/>
              </a:ext>
            </a:extLst>
          </p:cNvPr>
          <p:cNvSpPr txBox="1"/>
          <p:nvPr/>
        </p:nvSpPr>
        <p:spPr>
          <a:xfrm>
            <a:off x="685800" y="2184400"/>
            <a:ext cx="4889500" cy="508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The Product Mindset is here: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D05A57-840B-45FC-8910-0C6E0A72B9BB}"/>
              </a:ext>
            </a:extLst>
          </p:cNvPr>
          <p:cNvSpPr/>
          <p:nvPr/>
        </p:nvSpPr>
        <p:spPr>
          <a:xfrm>
            <a:off x="685800" y="34290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42E4E-55A0-481D-AAD9-A848D56FD81B}"/>
              </a:ext>
            </a:extLst>
          </p:cNvPr>
          <p:cNvSpPr txBox="1"/>
          <p:nvPr/>
        </p:nvSpPr>
        <p:spPr>
          <a:xfrm>
            <a:off x="889000" y="3429000"/>
            <a:ext cx="47625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Practiced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186B8-317D-4D3C-8765-1F80D4CB9584}"/>
              </a:ext>
            </a:extLst>
          </p:cNvPr>
          <p:cNvSpPr/>
          <p:nvPr/>
        </p:nvSpPr>
        <p:spPr>
          <a:xfrm>
            <a:off x="685800" y="43434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7908B-DD6E-4BC0-B513-77B9BB40DAF3}"/>
              </a:ext>
            </a:extLst>
          </p:cNvPr>
          <p:cNvSpPr txBox="1"/>
          <p:nvPr/>
        </p:nvSpPr>
        <p:spPr>
          <a:xfrm>
            <a:off x="889000" y="4343400"/>
            <a:ext cx="47625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Tested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F9DB45-6564-4659-8D53-3AB899BAD095}"/>
              </a:ext>
            </a:extLst>
          </p:cNvPr>
          <p:cNvSpPr/>
          <p:nvPr/>
        </p:nvSpPr>
        <p:spPr>
          <a:xfrm>
            <a:off x="685800" y="52578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556106-2C89-4A67-8D2E-F33BE89DBF14}"/>
              </a:ext>
            </a:extLst>
          </p:cNvPr>
          <p:cNvSpPr txBox="1"/>
          <p:nvPr/>
        </p:nvSpPr>
        <p:spPr>
          <a:xfrm>
            <a:off x="889000" y="5257800"/>
            <a:ext cx="47625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Reinforced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1B39B-9261-4E90-8C58-7EE4A2FABC2B}"/>
              </a:ext>
            </a:extLst>
          </p:cNvPr>
          <p:cNvSpPr txBox="1"/>
          <p:nvPr/>
        </p:nvSpPr>
        <p:spPr>
          <a:xfrm>
            <a:off x="685800" y="6540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80995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6F66E93-EA05-40E0-AAAA-9FEF639B6009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3E046-F0C5-4FD7-BFA4-FB453C2265F2}"/>
              </a:ext>
            </a:extLst>
          </p:cNvPr>
          <p:cNvSpPr txBox="1"/>
          <p:nvPr/>
        </p:nvSpPr>
        <p:spPr>
          <a:xfrm>
            <a:off x="901700" y="502920"/>
            <a:ext cx="9144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C4A31-5B6E-4C8B-B7DB-C85676AB69CB}"/>
              </a:ext>
            </a:extLst>
          </p:cNvPr>
          <p:cNvSpPr txBox="1"/>
          <p:nvPr/>
        </p:nvSpPr>
        <p:spPr>
          <a:xfrm>
            <a:off x="685800" y="896619"/>
            <a:ext cx="108077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How value flows and feeds back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00E911-2F26-4D0D-AB71-A0626CC59C9C}"/>
              </a:ext>
            </a:extLst>
          </p:cNvPr>
          <p:cNvSpPr/>
          <p:nvPr/>
        </p:nvSpPr>
        <p:spPr>
          <a:xfrm>
            <a:off x="685800" y="1879600"/>
            <a:ext cx="10820400" cy="109220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74D4A-88A8-4854-9CA6-F696820D396E}"/>
              </a:ext>
            </a:extLst>
          </p:cNvPr>
          <p:cNvSpPr txBox="1"/>
          <p:nvPr/>
        </p:nvSpPr>
        <p:spPr>
          <a:xfrm>
            <a:off x="939800" y="205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DOWNSTREAM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8FBE7-6053-413B-8DCC-9E262558B2B6}"/>
              </a:ext>
            </a:extLst>
          </p:cNvPr>
          <p:cNvSpPr txBox="1"/>
          <p:nvPr/>
        </p:nvSpPr>
        <p:spPr>
          <a:xfrm>
            <a:off x="939800" y="2387600"/>
            <a:ext cx="10312400" cy="431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Strategic intent  →  Operating model  →  Realized customer outcome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198AAC-EA0B-4D7B-93E5-8E3AD52426FE}"/>
              </a:ext>
            </a:extLst>
          </p:cNvPr>
          <p:cNvSpPr/>
          <p:nvPr/>
        </p:nvSpPr>
        <p:spPr>
          <a:xfrm>
            <a:off x="685800" y="3149600"/>
            <a:ext cx="10820400" cy="1752600"/>
          </a:xfrm>
          <a:prstGeom prst="roundRect">
            <a:avLst/>
          </a:prstGeom>
          <a:solidFill>
            <a:srgbClr val="EA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FF34C-2C84-4FD0-B131-7D34F5444872}"/>
              </a:ext>
            </a:extLst>
          </p:cNvPr>
          <p:cNvSpPr txBox="1"/>
          <p:nvPr/>
        </p:nvSpPr>
        <p:spPr>
          <a:xfrm>
            <a:off x="939800" y="332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2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UPSTREAM FEEDBACK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349E5C-09F8-4CE0-B2AC-4A34AFCAD9F1}"/>
              </a:ext>
            </a:extLst>
          </p:cNvPr>
          <p:cNvSpPr txBox="1"/>
          <p:nvPr/>
        </p:nvSpPr>
        <p:spPr>
          <a:xfrm>
            <a:off x="939800" y="3657600"/>
            <a:ext cx="103124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b="1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CVDM  →  PTS  →  OSM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FEBF6-D4E1-4A20-A13E-2981D475C4CF}"/>
              </a:ext>
            </a:extLst>
          </p:cNvPr>
          <p:cNvSpPr txBox="1"/>
          <p:nvPr/>
        </p:nvSpPr>
        <p:spPr>
          <a:xfrm>
            <a:off x="939800" y="4089400"/>
            <a:ext cx="10312400" cy="698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40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Customer signals become delivery learning, delivery learning becomes strategic evolution, continuously refining where the organization creates value.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206255-2E7A-4299-941A-0AE2D28BC392}"/>
              </a:ext>
            </a:extLst>
          </p:cNvPr>
          <p:cNvSpPr/>
          <p:nvPr/>
        </p:nvSpPr>
        <p:spPr>
          <a:xfrm>
            <a:off x="685800" y="5105400"/>
            <a:ext cx="10820400" cy="685800"/>
          </a:xfrm>
          <a:prstGeom prst="round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254000" tIns="0" rIns="0" bIns="0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feedback is what makes it a system — not a stack of frameworks.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7864A-C7A6-4E0B-A9C6-F5482863759A}"/>
              </a:ext>
            </a:extLst>
          </p:cNvPr>
          <p:cNvSpPr txBox="1"/>
          <p:nvPr/>
        </p:nvSpPr>
        <p:spPr>
          <a:xfrm>
            <a:off x="6832600" y="6477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r"/>
            <a:r>
              <a:rPr lang="en-US" sz="1000" dirty="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2517340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025F9-34DB-7011-9A2C-39332D140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72" y="2169775"/>
            <a:ext cx="6172028" cy="413583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D2EAC9C-9EF1-490E-8BC6-E48FDC0C6B2A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62AA9-C8AA-4AD3-90E9-DEFDE1758C24}"/>
              </a:ext>
            </a:extLst>
          </p:cNvPr>
          <p:cNvSpPr txBox="1"/>
          <p:nvPr/>
        </p:nvSpPr>
        <p:spPr>
          <a:xfrm>
            <a:off x="901700" y="502920"/>
            <a:ext cx="4953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331C8-2783-4230-A224-6FE1E5D48448}"/>
              </a:ext>
            </a:extLst>
          </p:cNvPr>
          <p:cNvSpPr txBox="1"/>
          <p:nvPr/>
        </p:nvSpPr>
        <p:spPr>
          <a:xfrm>
            <a:off x="685800" y="896619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measurement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FAF14-A0E1-40B8-B78F-E41F90795B70}"/>
              </a:ext>
            </a:extLst>
          </p:cNvPr>
          <p:cNvSpPr txBox="1"/>
          <p:nvPr/>
        </p:nvSpPr>
        <p:spPr>
          <a:xfrm>
            <a:off x="685800" y="2184400"/>
            <a:ext cx="4953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One connected system spans every framework — from how value is delivered to what the organization generates.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DEB93-C4B6-41FC-BDBF-5222CFC6FD0A}"/>
              </a:ext>
            </a:extLst>
          </p:cNvPr>
          <p:cNvSpPr/>
          <p:nvPr/>
        </p:nvSpPr>
        <p:spPr>
          <a:xfrm>
            <a:off x="685800" y="34290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EACB6-AF1A-4AAB-9AD3-6AF12D8BC26F}"/>
              </a:ext>
            </a:extLst>
          </p:cNvPr>
          <p:cNvSpPr txBox="1"/>
          <p:nvPr/>
        </p:nvSpPr>
        <p:spPr>
          <a:xfrm>
            <a:off x="889000" y="34290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8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3E — Efficiency, Experience, Effectiveness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D16264-D6C7-4E8B-91D0-B5BF4C87FE54}"/>
              </a:ext>
            </a:extLst>
          </p:cNvPr>
          <p:cNvSpPr/>
          <p:nvPr/>
        </p:nvSpPr>
        <p:spPr>
          <a:xfrm>
            <a:off x="685800" y="43434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C2DC7-DD8D-413B-9716-9A01F1A93737}"/>
              </a:ext>
            </a:extLst>
          </p:cNvPr>
          <p:cNvSpPr txBox="1"/>
          <p:nvPr/>
        </p:nvSpPr>
        <p:spPr>
          <a:xfrm>
            <a:off x="889000" y="43434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800" b="1" dirty="0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AER — Adoption, Engagement, Retention – </a:t>
            </a:r>
            <a:r>
              <a:rPr lang="en-US" sz="1600" dirty="0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measured on two parallel tracks: organization and customer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F0E35-363D-4BC8-A6AF-634D7B6B9B15}"/>
              </a:ext>
            </a:extLst>
          </p:cNvPr>
          <p:cNvSpPr/>
          <p:nvPr/>
        </p:nvSpPr>
        <p:spPr>
          <a:xfrm>
            <a:off x="685800" y="52578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AD5D9-1944-4A6E-B972-E4575EA138AB}"/>
              </a:ext>
            </a:extLst>
          </p:cNvPr>
          <p:cNvSpPr txBox="1"/>
          <p:nvPr/>
        </p:nvSpPr>
        <p:spPr>
          <a:xfrm>
            <a:off x="889000" y="52578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8 Values — Strategic, Financial, Market, Innovation,</a:t>
            </a:r>
            <a:b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</a:br>
            <a:r>
              <a:rPr lang="en-US" sz="16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People, Operational, Customer,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61E77-FC9D-4EEC-AF89-022DB0785D06}"/>
              </a:ext>
            </a:extLst>
          </p:cNvPr>
          <p:cNvSpPr txBox="1"/>
          <p:nvPr/>
        </p:nvSpPr>
        <p:spPr>
          <a:xfrm>
            <a:off x="685800" y="6540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111111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025F9-34DB-7011-9A2C-39332D140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972" y="1997011"/>
            <a:ext cx="6172028" cy="448136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D2EAC9C-9EF1-490E-8BC6-E48FDC0C6B2A}"/>
              </a:ext>
            </a:extLst>
          </p:cNvPr>
          <p:cNvSpPr/>
          <p:nvPr/>
        </p:nvSpPr>
        <p:spPr>
          <a:xfrm>
            <a:off x="685800" y="609600"/>
            <a:ext cx="114300" cy="114300"/>
          </a:xfrm>
          <a:prstGeom prst="ellipse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62AA9-C8AA-4AD3-90E9-DEFDE1758C24}"/>
              </a:ext>
            </a:extLst>
          </p:cNvPr>
          <p:cNvSpPr txBox="1"/>
          <p:nvPr/>
        </p:nvSpPr>
        <p:spPr>
          <a:xfrm>
            <a:off x="901700" y="502920"/>
            <a:ext cx="49530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200" b="1" kern="0" spc="250" dirty="0">
                <a:solidFill>
                  <a:srgbClr val="1F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331C8-2783-4230-A224-6FE1E5D48448}"/>
              </a:ext>
            </a:extLst>
          </p:cNvPr>
          <p:cNvSpPr txBox="1"/>
          <p:nvPr/>
        </p:nvSpPr>
        <p:spPr>
          <a:xfrm>
            <a:off x="685800" y="896619"/>
            <a:ext cx="4953000" cy="1206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3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the organization generates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FAF14-A0E1-40B8-B78F-E41F90795B70}"/>
              </a:ext>
            </a:extLst>
          </p:cNvPr>
          <p:cNvSpPr txBox="1"/>
          <p:nvPr/>
        </p:nvSpPr>
        <p:spPr>
          <a:xfrm>
            <a:off x="685800" y="2184400"/>
            <a:ext cx="4953000" cy="889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700">
                <a:solidFill>
                  <a:srgbClr val="15203A"/>
                </a:solidFill>
                <a:latin typeface="Calibri"/>
                <a:ea typeface="Calibri"/>
                <a:cs typeface="Calibri"/>
              </a:rPr>
              <a:t>Eight dimensions that compound into sustained impact — People Value is the source; every other a convergence node.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DEB93-C4B6-41FC-BDBF-5222CFC6FD0A}"/>
              </a:ext>
            </a:extLst>
          </p:cNvPr>
          <p:cNvSpPr/>
          <p:nvPr/>
        </p:nvSpPr>
        <p:spPr>
          <a:xfrm>
            <a:off x="685800" y="34290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EACB6-AF1A-4AAB-9AD3-6AF12D8BC26F}"/>
              </a:ext>
            </a:extLst>
          </p:cNvPr>
          <p:cNvSpPr txBox="1"/>
          <p:nvPr/>
        </p:nvSpPr>
        <p:spPr>
          <a:xfrm>
            <a:off x="889000" y="34290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8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Customer · Financial — the visible proof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D16264-D6C7-4E8B-91D0-B5BF4C87FE54}"/>
              </a:ext>
            </a:extLst>
          </p:cNvPr>
          <p:cNvSpPr/>
          <p:nvPr/>
        </p:nvSpPr>
        <p:spPr>
          <a:xfrm>
            <a:off x="685800" y="43434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C2DC7-DD8D-413B-9716-9A01F1A93737}"/>
              </a:ext>
            </a:extLst>
          </p:cNvPr>
          <p:cNvSpPr txBox="1"/>
          <p:nvPr/>
        </p:nvSpPr>
        <p:spPr>
          <a:xfrm>
            <a:off x="889000" y="43434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8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People · Operational — the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7F0E35-363D-4BC8-A6AF-634D7B6B9B15}"/>
              </a:ext>
            </a:extLst>
          </p:cNvPr>
          <p:cNvSpPr/>
          <p:nvPr/>
        </p:nvSpPr>
        <p:spPr>
          <a:xfrm>
            <a:off x="685800" y="5257800"/>
            <a:ext cx="50800" cy="584200"/>
          </a:xfrm>
          <a:prstGeom prst="rect">
            <a:avLst/>
          </a:prstGeom>
          <a:solidFill>
            <a:srgbClr val="1F2A6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AD5D9-1944-4A6E-B972-E4575EA138AB}"/>
              </a:ext>
            </a:extLst>
          </p:cNvPr>
          <p:cNvSpPr txBox="1"/>
          <p:nvPr/>
        </p:nvSpPr>
        <p:spPr>
          <a:xfrm>
            <a:off x="889000" y="5257800"/>
            <a:ext cx="4826000" cy="58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Autofit/>
          </a:bodyPr>
          <a:lstStyle/>
          <a:p>
            <a:pPr algn="l"/>
            <a:r>
              <a:rPr lang="en-US" sz="1800" b="1">
                <a:solidFill>
                  <a:srgbClr val="1F2A66"/>
                </a:solidFill>
                <a:latin typeface="Calibri"/>
                <a:ea typeface="Calibri"/>
                <a:cs typeface="Calibri"/>
              </a:rPr>
              <a:t>Market · Strategic · Innovation · Impact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61E77-FC9D-4EEC-AF89-022DB0785D06}"/>
              </a:ext>
            </a:extLst>
          </p:cNvPr>
          <p:cNvSpPr txBox="1"/>
          <p:nvPr/>
        </p:nvSpPr>
        <p:spPr>
          <a:xfrm>
            <a:off x="685800" y="65405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noAutofit/>
          </a:bodyPr>
          <a:lstStyle/>
          <a:p>
            <a:pPr algn="l"/>
            <a:r>
              <a:rPr lang="en-US" sz="1000">
                <a:solidFill>
                  <a:srgbClr val="9AA6A3"/>
                </a:solidFill>
                <a:latin typeface="Calibri"/>
                <a:ea typeface="Calibri"/>
                <a:cs typeface="Calibri"/>
              </a:rPr>
              <a:t>Insheights LLC  ·  Integrated Value Creation System</a:t>
            </a:r>
          </a:p>
        </p:txBody>
      </p:sp>
    </p:spTree>
    <p:extLst>
      <p:ext uri="{BB962C8B-B14F-4D97-AF65-F5344CB8AC3E}">
        <p14:creationId xmlns:p14="http://schemas.microsoft.com/office/powerpoint/2010/main" val="111111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3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721E-4DE1-2533-09A4-5FBDE5A9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B63A-77A8-1347-7DAB-99858DCC6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64000"/>
            <a:ext cx="10515600" cy="2159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8ECF2"/>
                </a:solidFill>
              </a:rPr>
              <a:t>Explore the full system – README.md </a:t>
            </a:r>
          </a:p>
          <a:p>
            <a:pPr marL="0" indent="0">
              <a:buNone/>
            </a:pPr>
            <a:r>
              <a:rPr lang="en-US" dirty="0">
                <a:solidFill>
                  <a:srgbClr val="D8ECF2"/>
                </a:solidFill>
              </a:rPr>
              <a:t>Measurement models – 3e.md, aer.md, 8-values.md  </a:t>
            </a:r>
          </a:p>
          <a:p>
            <a:pPr marL="0" indent="0">
              <a:buNone/>
            </a:pPr>
            <a:r>
              <a:rPr lang="en-US" dirty="0">
                <a:solidFill>
                  <a:srgbClr val="D8ECF2"/>
                </a:solidFill>
              </a:rPr>
              <a:t>Framework positioning – positioning.md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8ECF2"/>
                </a:solidFill>
              </a:rPr>
              <a:t>For more details, visit</a:t>
            </a:r>
          </a:p>
          <a:p>
            <a:pPr marL="0" indent="0">
              <a:buNone/>
            </a:pPr>
            <a:r>
              <a:rPr lang="en-US" dirty="0">
                <a:solidFill>
                  <a:srgbClr val="4FB8D4"/>
                </a:solidFill>
                <a:hlinkClick r:id="rId2"/>
              </a:rPr>
              <a:t>https://github.com/Insheights/in-frameworks</a:t>
            </a:r>
          </a:p>
        </p:txBody>
      </p:sp>
      <p:sp>
        <p:nvSpPr>
          <p:cNvPr id="50" name="ValueProp"/>
          <p:cNvSpPr txBox="1"/>
          <p:nvPr/>
        </p:nvSpPr>
        <p:spPr>
          <a:xfrm>
            <a:off x="838200" y="1885000"/>
            <a:ext cx="10515600" cy="1651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ts val="3000"/>
              </a:lnSpc>
            </a:pPr>
            <a:r>
              <a:rPr lang="en-US" sz="2400" b="1" dirty="0">
                <a:solidFill>
                  <a:srgbClr val="4FB8D4"/>
                </a:solidFill>
              </a:rPr>
              <a:t>IIVCS</a:t>
            </a:r>
            <a:r>
              <a:rPr lang="en-US" sz="2400" dirty="0">
                <a:solidFill>
                  <a:srgbClr val="FFFFFF"/>
                </a:solidFill>
              </a:rPr>
              <a:t> — a coherent system for how organizations define, build, and deliver value — from strategic intent to realized customer outcome — by integrating existing practices rather than replacing them.</a:t>
            </a:r>
          </a:p>
        </p:txBody>
      </p:sp>
    </p:spTree>
    <p:extLst>
      <p:ext uri="{BB962C8B-B14F-4D97-AF65-F5344CB8AC3E}">
        <p14:creationId xmlns:p14="http://schemas.microsoft.com/office/powerpoint/2010/main" val="156375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1389991050]">
  <a:themeElements>
    <a:clrScheme name="Office">
      <a:dk1>
        <a:srgbClr val="15203A"/>
      </a:dk1>
      <a:lt1>
        <a:srgbClr val="FFFFFF"/>
      </a:lt1>
      <a:dk2>
        <a:srgbClr val="0E1A3F"/>
      </a:dk2>
      <a:lt2>
        <a:srgbClr val="D8ECF2"/>
      </a:lt2>
      <a:accent1>
        <a:srgbClr val="1F2A66"/>
      </a:accent1>
      <a:accent2>
        <a:srgbClr val="3BA7C4"/>
      </a:accent2>
      <a:accent3>
        <a:srgbClr val="4FB8D4"/>
      </a:accent3>
      <a:accent4>
        <a:srgbClr val="A9DCEA"/>
      </a:accent4>
      <a:accent5>
        <a:srgbClr val="5A6478"/>
      </a:accent5>
      <a:accent6>
        <a:srgbClr val="0E1A3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2677</TotalTime>
  <Words>838</Words>
  <Application>Microsoft Office PowerPoint</Application>
  <PresentationFormat>Widescreen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Office Theme [1781389991050]</vt:lpstr>
      <vt:lpstr>Insheights  Integrated Value Creation System (IIVCS)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Insheights Integrated Value Creation System</dc:title>
  <dc:creator>Ambrose Xavier</dc:creator>
  <cp:lastModifiedBy>Ambrose Xavier</cp:lastModifiedBy>
  <cp:revision>94</cp:revision>
  <cp:lastPrinted>2026-01-16T16:54:29Z</cp:lastPrinted>
  <dcterms:created xsi:type="dcterms:W3CDTF">2026-01-05T19:52:27Z</dcterms:created>
  <dcterms:modified xsi:type="dcterms:W3CDTF">2026-06-15T18:48:05Z</dcterms:modified>
</cp:coreProperties>
</file>